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92928" y="914400"/>
            <a:ext cx="1005840" cy="1005840"/>
          </a:xfrm>
          <a:prstGeom prst="ellipse">
            <a:avLst/>
          </a:prstGeom>
          <a:solidFill>
            <a:srgbClr val="FF9933"/>
          </a:solidFill>
          <a:ln/>
        </p:spPr>
      </p:sp>
      <p:pic>
        <p:nvPicPr>
          <p:cNvPr id="3" name="Image 0" descr="icons/land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19242" y="1140714"/>
            <a:ext cx="553212" cy="55321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14400" y="2286000"/>
            <a:ext cx="1036015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Government Scheme Discovery Assistant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914400" y="3657600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for Governance &amp; Citizen Services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5184648" y="4343400"/>
            <a:ext cx="1828800" cy="0"/>
          </a:xfrm>
          <a:prstGeom prst="line">
            <a:avLst/>
          </a:prstGeom>
          <a:noFill/>
          <a:ln w="25400">
            <a:solidFill>
              <a:srgbClr val="FF993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14400" y="457200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9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SkillUp Hackathon  ×  IBM SkillsBuild  |  Built with IBM Bob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6035040"/>
            <a:ext cx="10360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Akshay Jain  |  B.Tech CSE (AI/ML), VGU Jaipur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9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Citizens struggle to access what they already qualify for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51206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runs hundreds of welfare schemes — but most citizens never discover the ones meant for them, or give up trying to understand eligibility rules written in dense official language.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126480" y="1600200"/>
            <a:ext cx="54864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355080" y="1897380"/>
            <a:ext cx="640080" cy="640080"/>
          </a:xfrm>
          <a:prstGeom prst="ellipse">
            <a:avLst/>
          </a:prstGeom>
          <a:solidFill>
            <a:srgbClr val="0B2545"/>
          </a:solidFill>
          <a:ln/>
        </p:spPr>
      </p:sp>
      <p:pic>
        <p:nvPicPr>
          <p:cNvPr id="7" name="Image 0" descr="icons/se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9098" y="2041398"/>
            <a:ext cx="352044" cy="35204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178040" y="176479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Awareness Gap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7178040" y="2130552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don't know which schemes exist for their situation.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126480" y="3063240"/>
            <a:ext cx="54864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355080" y="3360420"/>
            <a:ext cx="640080" cy="640080"/>
          </a:xfrm>
          <a:prstGeom prst="ellipse">
            <a:avLst/>
          </a:prstGeom>
          <a:solidFill>
            <a:srgbClr val="0B2545"/>
          </a:solidFill>
          <a:ln/>
        </p:spPr>
      </p:sp>
      <p:pic>
        <p:nvPicPr>
          <p:cNvPr id="12" name="Image 1" descr="icons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9098" y="3504438"/>
            <a:ext cx="352044" cy="35204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178040" y="322783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Eligibility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7178040" y="3593592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Age, income, occupation, state rules are scattered and confusing.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126480" y="4526280"/>
            <a:ext cx="54864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355080" y="4823460"/>
            <a:ext cx="640080" cy="640080"/>
          </a:xfrm>
          <a:prstGeom prst="ellipse">
            <a:avLst/>
          </a:prstGeom>
          <a:solidFill>
            <a:srgbClr val="0B2545"/>
          </a:solidFill>
          <a:ln/>
        </p:spPr>
      </p:sp>
      <p:pic>
        <p:nvPicPr>
          <p:cNvPr id="17" name="Image 2" descr="icons/languag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9098" y="4967478"/>
            <a:ext cx="352044" cy="352044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7178040" y="469087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Barrier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7178040" y="5056632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scheme text is rarely available in a citizen's own language.</a:t>
            </a:r>
            <a:endParaRPr lang="en-US" sz="1150" dirty="0"/>
          </a:p>
        </p:txBody>
      </p:sp>
      <p:sp>
        <p:nvSpPr>
          <p:cNvPr id="20" name="Text 15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Scheme Discovery Assistant</a:t>
            </a:r>
            <a:endParaRPr lang="en-US" sz="900" dirty="0"/>
          </a:p>
        </p:txBody>
      </p:sp>
      <p:sp>
        <p:nvSpPr>
          <p:cNvPr id="21" name="Text 16"/>
          <p:cNvSpPr txBox="1"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9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Closing the last-mile gap in public service delivery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822960" cy="822960"/>
          </a:xfrm>
          <a:prstGeom prst="ellipse">
            <a:avLst/>
          </a:prstGeom>
          <a:solidFill>
            <a:srgbClr val="FF9933"/>
          </a:solidFill>
          <a:ln/>
        </p:spPr>
      </p:sp>
      <p:pic>
        <p:nvPicPr>
          <p:cNvPr id="5" name="Image 0" descr="icons/us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8126" y="2105406"/>
            <a:ext cx="452628" cy="45262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920240" y="1920240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access to entitlements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1920240" y="2377440"/>
            <a:ext cx="8961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Citizens find relevant schemes in minutes instead of navigating multiple portals.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822960" y="3337560"/>
            <a:ext cx="822960" cy="822960"/>
          </a:xfrm>
          <a:prstGeom prst="ellipse">
            <a:avLst/>
          </a:prstGeom>
          <a:solidFill>
            <a:srgbClr val="FF9933"/>
          </a:solidFill>
          <a:ln/>
        </p:spPr>
      </p:sp>
      <p:pic>
        <p:nvPicPr>
          <p:cNvPr id="9" name="Image 1" descr="icons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8126" y="3522726"/>
            <a:ext cx="452628" cy="45262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920240" y="3337560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dependence on middlemen</a:t>
            </a:r>
            <a:endParaRPr lang="en-US" sz="1800" dirty="0"/>
          </a:p>
        </p:txBody>
      </p:sp>
      <p:sp>
        <p:nvSpPr>
          <p:cNvPr id="11" name="Text 7"/>
          <p:cNvSpPr txBox="1"/>
          <p:nvPr/>
        </p:nvSpPr>
        <p:spPr>
          <a:xfrm>
            <a:off x="1920240" y="3794760"/>
            <a:ext cx="8961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Clear, direct eligibility answers reduce reliance on agents or informal help.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822960" y="4754880"/>
            <a:ext cx="822960" cy="822960"/>
          </a:xfrm>
          <a:prstGeom prst="ellipse">
            <a:avLst/>
          </a:prstGeom>
          <a:solidFill>
            <a:srgbClr val="FF9933"/>
          </a:solidFill>
          <a:ln/>
        </p:spPr>
      </p:sp>
      <p:pic>
        <p:nvPicPr>
          <p:cNvPr id="13" name="Image 2" descr="icons/glob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8126" y="4940046"/>
            <a:ext cx="452628" cy="45262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920240" y="4754880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 inclusion</a:t>
            </a:r>
            <a:endParaRPr lang="en-US" sz="1800" dirty="0"/>
          </a:p>
        </p:txBody>
      </p:sp>
      <p:sp>
        <p:nvSpPr>
          <p:cNvPr id="15" name="Text 10"/>
          <p:cNvSpPr txBox="1"/>
          <p:nvPr/>
        </p:nvSpPr>
        <p:spPr>
          <a:xfrm>
            <a:off x="1920240" y="5212080"/>
            <a:ext cx="8961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multilingual explanations make schemes accessible to more citizens.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Scheme Discovery Assistant</a:t>
            </a:r>
            <a:endParaRPr lang="en-US" sz="900" dirty="0"/>
          </a:p>
        </p:txBody>
      </p:sp>
      <p:sp>
        <p:nvSpPr>
          <p:cNvPr id="17" name="Text 12"/>
          <p:cNvSpPr txBox="1"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9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assistant, covering all four project ideas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011680"/>
            <a:ext cx="731520" cy="731520"/>
          </a:xfrm>
          <a:prstGeom prst="ellipse">
            <a:avLst/>
          </a:prstGeom>
          <a:solidFill>
            <a:srgbClr val="1F7A4D"/>
          </a:solidFill>
          <a:ln/>
        </p:spPr>
      </p:sp>
      <p:pic>
        <p:nvPicPr>
          <p:cNvPr id="6" name="Image 0" descr="icons/se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" y="2176272"/>
            <a:ext cx="402336" cy="40233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68680" y="2880360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Scheme Discovery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3264408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a profile — get matched to real schemes you qualify for.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217920" y="1691640"/>
            <a:ext cx="534924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37960" y="2011680"/>
            <a:ext cx="731520" cy="731520"/>
          </a:xfrm>
          <a:prstGeom prst="ellipse">
            <a:avLst/>
          </a:prstGeom>
          <a:solidFill>
            <a:srgbClr val="1F7A4D"/>
          </a:solidFill>
          <a:ln/>
        </p:spPr>
      </p:sp>
      <p:pic>
        <p:nvPicPr>
          <p:cNvPr id="11" name="Image 1" descr="icons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2552" y="2176272"/>
            <a:ext cx="402336" cy="40233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6537960" y="2880360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Eligibility Checker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6537960" y="3264408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matching engine checks age, income, occupation &amp; state rules.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4160520"/>
            <a:ext cx="534924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8680" y="4480560"/>
            <a:ext cx="731520" cy="731520"/>
          </a:xfrm>
          <a:prstGeom prst="ellipse">
            <a:avLst/>
          </a:prstGeom>
          <a:solidFill>
            <a:srgbClr val="1F7A4D"/>
          </a:solidFill>
          <a:ln/>
        </p:spPr>
      </p:sp>
      <p:pic>
        <p:nvPicPr>
          <p:cNvPr id="16" name="Image 2" descr="icons/robo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272" y="4645152"/>
            <a:ext cx="402336" cy="40233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68680" y="5349240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Services Bot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868680" y="5733288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free-form questions like “Am I eligible for Ayushman Bharat?”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217920" y="4160520"/>
            <a:ext cx="534924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537960" y="4480560"/>
            <a:ext cx="731520" cy="731520"/>
          </a:xfrm>
          <a:prstGeom prst="ellipse">
            <a:avLst/>
          </a:prstGeom>
          <a:solidFill>
            <a:srgbClr val="1F7A4D"/>
          </a:solidFill>
          <a:ln/>
        </p:spPr>
      </p:sp>
      <p:pic>
        <p:nvPicPr>
          <p:cNvPr id="21" name="Image 3" descr="icons/glob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2552" y="4645152"/>
            <a:ext cx="402336" cy="402336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6537960" y="5349240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Explainer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6537960" y="5733288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answer can be explained in English, Hindi, or Hinglish.</a:t>
            </a:r>
            <a:endParaRPr lang="en-US" sz="1200" dirty="0"/>
          </a:p>
        </p:txBody>
      </p:sp>
      <p:sp>
        <p:nvSpPr>
          <p:cNvPr id="24" name="Text 18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Scheme Discovery Assistant</a:t>
            </a:r>
            <a:endParaRPr lang="en-US" sz="900" dirty="0"/>
          </a:p>
        </p:txBody>
      </p:sp>
      <p:sp>
        <p:nvSpPr>
          <p:cNvPr id="25" name="Text 19"/>
          <p:cNvSpPr txBox="1"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9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profile to answer in four steps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60908" y="2743200"/>
            <a:ext cx="2377440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888888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729588" y="2423160"/>
            <a:ext cx="640080" cy="640080"/>
          </a:xfrm>
          <a:prstGeom prst="ellipse">
            <a:avLst/>
          </a:prstGeom>
          <a:solidFill>
            <a:srgbClr val="FF993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729588" y="2423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998068" y="32461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Profile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998068" y="370332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Age, income, occupation, state, gender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3238348" y="342900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9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3558388" y="2743200"/>
            <a:ext cx="2377440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888888">
                <a:alpha val="2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427068" y="2423160"/>
            <a:ext cx="640080" cy="640080"/>
          </a:xfrm>
          <a:prstGeom prst="ellipse">
            <a:avLst/>
          </a:prstGeom>
          <a:solidFill>
            <a:srgbClr val="FF993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427068" y="2423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3695548" y="32461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Schemes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695548" y="370332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engine filters eligible schemes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5935828" y="342900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9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6255868" y="2743200"/>
            <a:ext cx="2377440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888888">
                <a:alpha val="2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124548" y="2423160"/>
            <a:ext cx="640080" cy="640080"/>
          </a:xfrm>
          <a:prstGeom prst="ellipse">
            <a:avLst/>
          </a:prstGeom>
          <a:solidFill>
            <a:srgbClr val="FF993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124548" y="2423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6393028" y="32461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Explains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393028" y="370332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Plain-language summary in chosen language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8633308" y="342900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9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8953348" y="2743200"/>
            <a:ext cx="2377440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888888">
                <a:alpha val="2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822028" y="2423160"/>
            <a:ext cx="640080" cy="640080"/>
          </a:xfrm>
          <a:prstGeom prst="ellipse">
            <a:avLst/>
          </a:prstGeom>
          <a:solidFill>
            <a:srgbClr val="FF993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822028" y="2423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9090508" y="32461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&amp; Apply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9090508" y="370332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Benefits, process, and official links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Scheme Discovery Assistant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9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logic cleanly separated from the UI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02920" cy="502920"/>
          </a:xfrm>
          <a:prstGeom prst="ellipse">
            <a:avLst/>
          </a:prstGeom>
          <a:solidFill>
            <a:srgbClr val="FF9933"/>
          </a:solidFill>
          <a:ln/>
        </p:spPr>
      </p:sp>
      <p:pic>
        <p:nvPicPr>
          <p:cNvPr id="5" name="Image 0" descr="icons/co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797" y="2033397"/>
            <a:ext cx="276606" cy="27660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34440" y="18745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models.py</a:t>
            </a:r>
            <a:endParaRPr lang="en-US" sz="1350" dirty="0"/>
          </a:p>
        </p:txBody>
      </p:sp>
      <p:sp>
        <p:nvSpPr>
          <p:cNvPr id="7" name="Text 4"/>
          <p:cNvSpPr txBox="1"/>
          <p:nvPr/>
        </p:nvSpPr>
        <p:spPr>
          <a:xfrm>
            <a:off x="1234440" y="221284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Scheme &amp; UserProfile dataclasses with validation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48640" y="2761488"/>
            <a:ext cx="502920" cy="502920"/>
          </a:xfrm>
          <a:prstGeom prst="ellipse">
            <a:avLst/>
          </a:prstGeom>
          <a:solidFill>
            <a:srgbClr val="FF9933"/>
          </a:solidFill>
          <a:ln/>
        </p:spPr>
      </p:sp>
      <p:pic>
        <p:nvPicPr>
          <p:cNvPr id="9" name="Image 1" descr="icons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797" y="2874645"/>
            <a:ext cx="276606" cy="27660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234440" y="271576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eligibility.py</a:t>
            </a:r>
            <a:endParaRPr lang="en-US" sz="1350" dirty="0"/>
          </a:p>
        </p:txBody>
      </p:sp>
      <p:sp>
        <p:nvSpPr>
          <p:cNvPr id="11" name="Text 7"/>
          <p:cNvSpPr txBox="1"/>
          <p:nvPr/>
        </p:nvSpPr>
        <p:spPr>
          <a:xfrm>
            <a:off x="1234440" y="3054096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EligibilityChecker — AND-combined matching rules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548640" y="3602736"/>
            <a:ext cx="502920" cy="502920"/>
          </a:xfrm>
          <a:prstGeom prst="ellipse">
            <a:avLst/>
          </a:prstGeom>
          <a:solidFill>
            <a:srgbClr val="FF9933"/>
          </a:solidFill>
          <a:ln/>
        </p:spPr>
      </p:sp>
      <p:pic>
        <p:nvPicPr>
          <p:cNvPr id="13" name="Image 2" descr="icons/search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797" y="3715893"/>
            <a:ext cx="276606" cy="27660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234440" y="3557016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filters.py</a:t>
            </a:r>
            <a:endParaRPr lang="en-US" sz="1350" dirty="0"/>
          </a:p>
        </p:txBody>
      </p:sp>
      <p:sp>
        <p:nvSpPr>
          <p:cNvPr id="15" name="Text 10"/>
          <p:cNvSpPr txBox="1"/>
          <p:nvPr/>
        </p:nvSpPr>
        <p:spPr>
          <a:xfrm>
            <a:off x="1234440" y="3895344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SchemeFilter — keyword &amp; category search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548640" y="4443984"/>
            <a:ext cx="502920" cy="502920"/>
          </a:xfrm>
          <a:prstGeom prst="ellipse">
            <a:avLst/>
          </a:prstGeom>
          <a:solidFill>
            <a:srgbClr val="FF9933"/>
          </a:solidFill>
          <a:ln/>
        </p:spPr>
      </p:sp>
      <p:pic>
        <p:nvPicPr>
          <p:cNvPr id="17" name="Image 3" descr="icons/landmar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797" y="4557141"/>
            <a:ext cx="276606" cy="276606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234440" y="4398264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data.py</a:t>
            </a:r>
            <a:endParaRPr lang="en-US" sz="1350" dirty="0"/>
          </a:p>
        </p:txBody>
      </p:sp>
      <p:sp>
        <p:nvSpPr>
          <p:cNvPr id="19" name="Text 13"/>
          <p:cNvSpPr txBox="1"/>
          <p:nvPr/>
        </p:nvSpPr>
        <p:spPr>
          <a:xfrm>
            <a:off x="1234440" y="4736592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SchemeRepository — loads schemes.json</a:t>
            </a:r>
            <a:endParaRPr lang="en-US" sz="1050" dirty="0"/>
          </a:p>
        </p:txBody>
      </p:sp>
      <p:sp>
        <p:nvSpPr>
          <p:cNvPr id="20" name="Shape 14"/>
          <p:cNvSpPr/>
          <p:nvPr/>
        </p:nvSpPr>
        <p:spPr>
          <a:xfrm>
            <a:off x="548640" y="5285232"/>
            <a:ext cx="502920" cy="502920"/>
          </a:xfrm>
          <a:prstGeom prst="ellipse">
            <a:avLst/>
          </a:prstGeom>
          <a:solidFill>
            <a:srgbClr val="FF9933"/>
          </a:solidFill>
          <a:ln/>
        </p:spPr>
      </p:sp>
      <p:pic>
        <p:nvPicPr>
          <p:cNvPr id="21" name="Image 4" descr="icons/robo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797" y="5398389"/>
            <a:ext cx="276606" cy="276606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234440" y="523951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app.py</a:t>
            </a:r>
            <a:endParaRPr lang="en-US" sz="1350" dirty="0"/>
          </a:p>
        </p:txBody>
      </p:sp>
      <p:sp>
        <p:nvSpPr>
          <p:cNvPr id="23" name="Text 16"/>
          <p:cNvSpPr txBox="1"/>
          <p:nvPr/>
        </p:nvSpPr>
        <p:spPr>
          <a:xfrm>
            <a:off x="1234440" y="557784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UI only — zero business logic</a:t>
            </a:r>
            <a:endParaRPr lang="en-US" sz="1050" dirty="0"/>
          </a:p>
        </p:txBody>
      </p:sp>
      <p:sp>
        <p:nvSpPr>
          <p:cNvPr id="24" name="Shape 17"/>
          <p:cNvSpPr/>
          <p:nvPr/>
        </p:nvSpPr>
        <p:spPr>
          <a:xfrm>
            <a:off x="6263640" y="1051560"/>
            <a:ext cx="5486400" cy="5303520"/>
          </a:xfrm>
          <a:prstGeom prst="roundRect">
            <a:avLst>
              <a:gd name="adj" fmla="val 103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pic>
        <p:nvPicPr>
          <p:cNvPr id="25" name="Image 5" descr="/mnt/user-data/uploads/1789795510102_image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6400800" y="1188720"/>
            <a:ext cx="5212080" cy="5029200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Scheme Discovery Assistant</a:t>
            </a:r>
            <a:endParaRPr lang="en-US" sz="900" dirty="0"/>
          </a:p>
        </p:txBody>
      </p:sp>
      <p:sp>
        <p:nvSpPr>
          <p:cNvPr id="27" name="Text 19"/>
          <p:cNvSpPr txBox="1"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9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DEVELOPMENT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with IBM Bob — plan first, then implement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92328" y="1828800"/>
            <a:ext cx="5029200" cy="2926080"/>
          </a:xfrm>
          <a:prstGeom prst="roundRect">
            <a:avLst>
              <a:gd name="adj" fmla="val 281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888888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12368" y="2148840"/>
            <a:ext cx="685800" cy="685800"/>
          </a:xfrm>
          <a:prstGeom prst="ellipse">
            <a:avLst/>
          </a:prstGeom>
          <a:solidFill>
            <a:srgbClr val="0B2545"/>
          </a:solidFill>
          <a:ln/>
        </p:spPr>
      </p:sp>
      <p:pic>
        <p:nvPicPr>
          <p:cNvPr id="6" name="Image 0" descr="icons/lightbul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6673" y="2303145"/>
            <a:ext cx="377190" cy="37719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981048" y="21945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Plan Mode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1112368" y="3063240"/>
            <a:ext cx="4389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Asked Bob to analyze the problem before writing any code: requirements, classes, data fields, and validation rules — no implementation yet.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5821528" y="3017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9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0" name="Shape 7"/>
          <p:cNvSpPr/>
          <p:nvPr/>
        </p:nvSpPr>
        <p:spPr>
          <a:xfrm>
            <a:off x="6370168" y="1828800"/>
            <a:ext cx="5029200" cy="2926080"/>
          </a:xfrm>
          <a:prstGeom prst="roundRect">
            <a:avLst>
              <a:gd name="adj" fmla="val 281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888888">
                <a:alpha val="2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690208" y="2148840"/>
            <a:ext cx="685800" cy="685800"/>
          </a:xfrm>
          <a:prstGeom prst="ellipse">
            <a:avLst/>
          </a:prstGeom>
          <a:solidFill>
            <a:srgbClr val="1F7A4D"/>
          </a:solidFill>
          <a:ln/>
        </p:spPr>
      </p:sp>
      <p:pic>
        <p:nvPicPr>
          <p:cNvPr id="12" name="Image 1" descr="icons/robo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4513" y="2303145"/>
            <a:ext cx="377190" cy="37719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558888" y="21945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Agent Mode</a:t>
            </a:r>
            <a:endParaRPr lang="en-US" sz="1700" dirty="0"/>
          </a:p>
        </p:txBody>
      </p:sp>
      <p:sp>
        <p:nvSpPr>
          <p:cNvPr id="14" name="Text 10"/>
          <p:cNvSpPr txBox="1"/>
          <p:nvPr/>
        </p:nvSpPr>
        <p:spPr>
          <a:xfrm>
            <a:off x="6690208" y="3063240"/>
            <a:ext cx="4389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the design approved, Bob implemented it: layered modules, dataclass validation, the eligibility engine, and pytest unit tests — with explicit approval before every file write.</a:t>
            </a:r>
            <a:endParaRPr lang="en-US" sz="1250" dirty="0"/>
          </a:p>
        </p:txBody>
      </p:sp>
      <p:sp>
        <p:nvSpPr>
          <p:cNvPr id="15" name="Text 11"/>
          <p:cNvSpPr txBox="1"/>
          <p:nvPr/>
        </p:nvSpPr>
        <p:spPr>
          <a:xfrm>
            <a:off x="548640" y="52120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a properly layered, tested application — not a one-file prototype.</a:t>
            </a:r>
            <a:endParaRPr lang="en-US" sz="1300" dirty="0"/>
          </a:p>
        </p:txBody>
      </p:sp>
      <p:sp>
        <p:nvSpPr>
          <p:cNvPr id="16" name="Text 12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Scheme Discovery Assistant</a:t>
            </a:r>
            <a:endParaRPr lang="en-US" sz="900" dirty="0"/>
          </a:p>
        </p:txBody>
      </p:sp>
      <p:sp>
        <p:nvSpPr>
          <p:cNvPr id="17" name="Text 13"/>
          <p:cNvSpPr txBox="1"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9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Simple, reliable tools — nothing over-engineered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11784" y="2377440"/>
            <a:ext cx="914400" cy="914400"/>
          </a:xfrm>
          <a:prstGeom prst="ellipse">
            <a:avLst/>
          </a:prstGeom>
          <a:solidFill>
            <a:srgbClr val="FF9933"/>
          </a:solidFill>
          <a:ln/>
        </p:spPr>
      </p:sp>
      <p:pic>
        <p:nvPicPr>
          <p:cNvPr id="5" name="Image 0" descr="icons/co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7524" y="2583180"/>
            <a:ext cx="502920" cy="5029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40284" y="342900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(OOP)</a:t>
            </a:r>
            <a:endParaRPr lang="en-US" sz="1350" dirty="0"/>
          </a:p>
        </p:txBody>
      </p:sp>
      <p:sp>
        <p:nvSpPr>
          <p:cNvPr id="7" name="Text 4"/>
          <p:cNvSpPr txBox="1"/>
          <p:nvPr/>
        </p:nvSpPr>
        <p:spPr>
          <a:xfrm>
            <a:off x="440284" y="384048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Dataclasses &amp; layered modules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3325216" y="2377440"/>
            <a:ext cx="914400" cy="914400"/>
          </a:xfrm>
          <a:prstGeom prst="ellipse">
            <a:avLst/>
          </a:prstGeom>
          <a:solidFill>
            <a:srgbClr val="FF9933"/>
          </a:solidFill>
          <a:ln/>
        </p:spPr>
      </p:sp>
      <p:pic>
        <p:nvPicPr>
          <p:cNvPr id="9" name="Image 1" descr="icons/robo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0956" y="2583180"/>
            <a:ext cx="502920" cy="50292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2753716" y="342900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Bob</a:t>
            </a:r>
            <a:endParaRPr lang="en-US" sz="1350" dirty="0"/>
          </a:p>
        </p:txBody>
      </p:sp>
      <p:sp>
        <p:nvSpPr>
          <p:cNvPr id="11" name="Text 7"/>
          <p:cNvSpPr txBox="1"/>
          <p:nvPr/>
        </p:nvSpPr>
        <p:spPr>
          <a:xfrm>
            <a:off x="2753716" y="384048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Plain-language, grounded explanations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5638648" y="2377440"/>
            <a:ext cx="914400" cy="914400"/>
          </a:xfrm>
          <a:prstGeom prst="ellipse">
            <a:avLst/>
          </a:prstGeom>
          <a:solidFill>
            <a:srgbClr val="FF9933"/>
          </a:solidFill>
          <a:ln/>
        </p:spPr>
      </p:sp>
      <p:pic>
        <p:nvPicPr>
          <p:cNvPr id="13" name="Image 2" descr="icons/landmar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4388" y="2583180"/>
            <a:ext cx="502920" cy="50292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067148" y="342900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350" dirty="0"/>
          </a:p>
        </p:txBody>
      </p:sp>
      <p:sp>
        <p:nvSpPr>
          <p:cNvPr id="15" name="Text 10"/>
          <p:cNvSpPr txBox="1"/>
          <p:nvPr/>
        </p:nvSpPr>
        <p:spPr>
          <a:xfrm>
            <a:off x="5067148" y="384048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clean interactive UI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7952080" y="2377440"/>
            <a:ext cx="914400" cy="914400"/>
          </a:xfrm>
          <a:prstGeom prst="ellipse">
            <a:avLst/>
          </a:prstGeom>
          <a:solidFill>
            <a:srgbClr val="FF9933"/>
          </a:solidFill>
          <a:ln/>
        </p:spPr>
      </p:sp>
      <p:pic>
        <p:nvPicPr>
          <p:cNvPr id="17" name="Image 3" descr="icon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7820" y="2583180"/>
            <a:ext cx="502920" cy="50292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7380580" y="342900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</a:t>
            </a:r>
            <a:endParaRPr lang="en-US" sz="1350" dirty="0"/>
          </a:p>
        </p:txBody>
      </p:sp>
      <p:sp>
        <p:nvSpPr>
          <p:cNvPr id="19" name="Text 13"/>
          <p:cNvSpPr txBox="1"/>
          <p:nvPr/>
        </p:nvSpPr>
        <p:spPr>
          <a:xfrm>
            <a:off x="7380580" y="384048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 for core logic</a:t>
            </a:r>
            <a:endParaRPr lang="en-US" sz="1050" dirty="0"/>
          </a:p>
        </p:txBody>
      </p:sp>
      <p:sp>
        <p:nvSpPr>
          <p:cNvPr id="20" name="Shape 14"/>
          <p:cNvSpPr/>
          <p:nvPr/>
        </p:nvSpPr>
        <p:spPr>
          <a:xfrm>
            <a:off x="10265512" y="2377440"/>
            <a:ext cx="914400" cy="914400"/>
          </a:xfrm>
          <a:prstGeom prst="ellipse">
            <a:avLst/>
          </a:prstGeom>
          <a:solidFill>
            <a:srgbClr val="FF9933"/>
          </a:solidFill>
          <a:ln/>
        </p:spPr>
      </p:sp>
      <p:pic>
        <p:nvPicPr>
          <p:cNvPr id="21" name="Image 4" descr="icons/search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71252" y="2583180"/>
            <a:ext cx="502920" cy="50292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9694012" y="342900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</a:t>
            </a:r>
            <a:endParaRPr lang="en-US" sz="1350" dirty="0"/>
          </a:p>
        </p:txBody>
      </p:sp>
      <p:sp>
        <p:nvSpPr>
          <p:cNvPr id="23" name="Text 16"/>
          <p:cNvSpPr txBox="1"/>
          <p:nvPr/>
        </p:nvSpPr>
        <p:spPr>
          <a:xfrm>
            <a:off x="9694012" y="384048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editable scheme dataset</a:t>
            </a:r>
            <a:endParaRPr lang="en-US" sz="1050" dirty="0"/>
          </a:p>
        </p:txBody>
      </p:sp>
      <p:sp>
        <p:nvSpPr>
          <p:cNvPr id="24" name="Text 17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Scheme Discovery Assistant</a:t>
            </a:r>
            <a:endParaRPr lang="en-US" sz="900" dirty="0"/>
          </a:p>
        </p:txBody>
      </p:sp>
      <p:sp>
        <p:nvSpPr>
          <p:cNvPr id="25" name="Text 18"/>
          <p:cNvSpPr txBox="1"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9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IN ACTION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real match, not a mockup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49440" cy="4526280"/>
          </a:xfrm>
          <a:prstGeom prst="roundRect">
            <a:avLst>
              <a:gd name="adj" fmla="val 1212"/>
            </a:avLst>
          </a:prstGeom>
          <a:solidFill>
            <a:srgbClr val="0B0F17"/>
          </a:solidFill>
          <a:ln/>
          <a:effectLst>
            <a:outerShdw sx="100000" sy="100000" kx="0" ky="0" algn="bl" rotWithShape="0" blurRad="101600" dist="38100" dir="5400000">
              <a:srgbClr val="888888">
                <a:alpha val="30000"/>
              </a:srgbClr>
            </a:outerShdw>
          </a:effectLst>
        </p:spPr>
      </p:sp>
      <p:pic>
        <p:nvPicPr>
          <p:cNvPr id="5" name="Image 0" descr="shots/eligible_clea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" y="1828800"/>
            <a:ext cx="6675120" cy="42519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818120" y="182880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17-year-old student, Uttar Pradesh, General category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7818120" y="2907792"/>
            <a:ext cx="109728" cy="109728"/>
          </a:xfrm>
          <a:prstGeom prst="ellipse">
            <a:avLst/>
          </a:prstGeom>
          <a:solidFill>
            <a:srgbClr val="FF9933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092440" y="283464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Instantly matched to 2 real schemes — PM Jan Dhan Yojana and Ayushman Bharat (PM-JAY)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7818120" y="3867912"/>
            <a:ext cx="109728" cy="109728"/>
          </a:xfrm>
          <a:prstGeom prst="ellipse">
            <a:avLst/>
          </a:prstGeom>
          <a:solidFill>
            <a:srgbClr val="FF9933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092440" y="379476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hallucinated schemes — every result traces back to schemes.json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7818120" y="4828032"/>
            <a:ext cx="109728" cy="109728"/>
          </a:xfrm>
          <a:prstGeom prst="ellipse">
            <a:avLst/>
          </a:prstGeom>
          <a:solidFill>
            <a:srgbClr val="FF993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092440" y="475488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engine powers the eligibility checker use case from the problem statement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Scheme Discovery Assistant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9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IN ACTION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Search directly, or browse the full list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49240" cy="3520440"/>
          </a:xfrm>
          <a:prstGeom prst="roundRect">
            <a:avLst>
              <a:gd name="adj" fmla="val 1558"/>
            </a:avLst>
          </a:prstGeom>
          <a:solidFill>
            <a:srgbClr val="0B0F17"/>
          </a:solidFill>
          <a:ln/>
          <a:effectLst>
            <a:outerShdw sx="100000" sy="100000" kx="0" ky="0" algn="bl" rotWithShape="0" blurRad="88900" dist="38100" dir="5400000">
              <a:srgbClr val="888888">
                <a:alpha val="28000"/>
              </a:srgbClr>
            </a:outerShdw>
          </a:effectLst>
        </p:spPr>
      </p:sp>
      <p:pic>
        <p:nvPicPr>
          <p:cNvPr id="5" name="Image 0" descr="/mnt/user-data/uploads/1789795705645_imag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58368" y="1847088"/>
            <a:ext cx="5129784" cy="330098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94360" y="5440680"/>
            <a:ext cx="5257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Schemes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94360" y="5769864"/>
            <a:ext cx="5257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search — e.g. “scholarship” — returns the exact matching scheme.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6217920" y="1737360"/>
            <a:ext cx="5349240" cy="3520440"/>
          </a:xfrm>
          <a:prstGeom prst="roundRect">
            <a:avLst>
              <a:gd name="adj" fmla="val 1558"/>
            </a:avLst>
          </a:prstGeom>
          <a:solidFill>
            <a:srgbClr val="0B0F17"/>
          </a:solidFill>
          <a:ln/>
          <a:effectLst>
            <a:outerShdw sx="100000" sy="100000" kx="0" ky="0" algn="bl" rotWithShape="0" blurRad="88900" dist="38100" dir="5400000">
              <a:srgbClr val="888888">
                <a:alpha val="28000"/>
              </a:srgbClr>
            </a:outerShdw>
          </a:effectLst>
        </p:spPr>
      </p:sp>
      <p:pic>
        <p:nvPicPr>
          <p:cNvPr id="9" name="Image 1" descr="/mnt/user-data/uploads/1789795753876_image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327648" y="1847088"/>
            <a:ext cx="5129784" cy="330098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6263640" y="5440680"/>
            <a:ext cx="5257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All Schemes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6263640" y="5769864"/>
            <a:ext cx="5257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catalog with category and state filters for open-ended exploration.</a:t>
            </a:r>
            <a:endParaRPr lang="en-US" sz="1050" dirty="0"/>
          </a:p>
        </p:txBody>
      </p:sp>
      <p:sp>
        <p:nvSpPr>
          <p:cNvPr id="12" name="Text 8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Scheme Discovery Assistant</a:t>
            </a:r>
            <a:endParaRPr lang="en-US" sz="900" dirty="0"/>
          </a:p>
        </p:txBody>
      </p:sp>
      <p:sp>
        <p:nvSpPr>
          <p:cNvPr id="13" name="Text 9"/>
          <p:cNvSpPr txBox="1"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9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93392"/>
            <a:ext cx="128016" cy="128016"/>
          </a:xfrm>
          <a:prstGeom prst="ellipse">
            <a:avLst/>
          </a:prstGeom>
          <a:solidFill>
            <a:srgbClr val="FF993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9202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regional Indian languages beyond Hindi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128016" cy="128016"/>
          </a:xfrm>
          <a:prstGeom prst="ellipse">
            <a:avLst/>
          </a:prstGeom>
          <a:solidFill>
            <a:srgbClr val="FF9933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60120" y="2487168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input for low-literacy users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3127248"/>
            <a:ext cx="128016" cy="128016"/>
          </a:xfrm>
          <a:prstGeom prst="ellipse">
            <a:avLst/>
          </a:prstGeom>
          <a:solidFill>
            <a:srgbClr val="FF993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60120" y="3054096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application links &amp; document checklists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3694176"/>
            <a:ext cx="128016" cy="128016"/>
          </a:xfrm>
          <a:prstGeom prst="ellipse">
            <a:avLst/>
          </a:prstGeom>
          <a:solidFill>
            <a:srgbClr val="FF993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621024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Larger, auto-updated scheme database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4663440"/>
            <a:ext cx="11064240" cy="0"/>
          </a:xfrm>
          <a:prstGeom prst="line">
            <a:avLst/>
          </a:prstGeom>
          <a:noFill/>
          <a:ln w="19050">
            <a:solidFill>
              <a:srgbClr val="13376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49377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4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58064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Akshay Jain  |  B.Tech CSE (AI/ML), VGU Jaipur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Scheme Discovery Assistant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2026-09-19T05:51:49Z</dcterms:created>
  <dcterms:modified xsi:type="dcterms:W3CDTF">2026-09-19T05:51:49Z</dcterms:modified>
</cp:coreProperties>
</file>